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Geist" panose="020B0604020202020204" charset="-52"/>
      <p:regular r:id="rId14"/>
    </p:embeddedFont>
    <p:embeddedFont>
      <p:font typeface="Microsoft Yi Baiti" panose="03000500000000000000" pitchFamily="66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4E9"/>
    <a:srgbClr val="E3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39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7770"/>
            <a:ext cx="7556421" cy="434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Лесные экосистемы Беларуси: проблемы сохранения и рационального использования в контексте глобальных экологических вызовов</a:t>
            </a:r>
            <a:endParaRPr lang="en-US" sz="39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584596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Дисциплина: Безопасность жизнедеятельности человека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638675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Подготовила: Рублевская Маргарита, 3-9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BD135E-3E2D-088E-D0B4-BF0DDB4B4951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068" y="566598"/>
            <a:ext cx="8789551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Общая характеристика лесов Беларуси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8068" y="1684973"/>
            <a:ext cx="13154144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Леса составляют фундамент экологической устойчивости страны, выполняя ключевые климатические, водорегулирующие и геостабилизирующие функции. Их сохранение — стратегическая задача национальной безопасности.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8068" y="2539841"/>
            <a:ext cx="6489502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5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40.3%</a:t>
            </a:r>
            <a:endParaRPr lang="en-US" sz="4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28781" y="3278743"/>
            <a:ext cx="270795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Лесистость территории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8068" y="3623310"/>
            <a:ext cx="6489502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Более 40% всей площади страны покрыто лесами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2711" y="2539841"/>
            <a:ext cx="6489502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5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10M</a:t>
            </a:r>
            <a:endParaRPr lang="en-US" sz="4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4891" y="3278743"/>
            <a:ext cx="208502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Geist" panose="020B0604020202020204" charset="-52"/>
              </a:rPr>
              <a:t>Гектаров лесов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  <a:cs typeface="Geist" panose="020B0604020202020204" charset="-5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02711" y="3623310"/>
            <a:ext cx="6489502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Общая площадь лесопокрытых земель в Беларуси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8068" y="4232553"/>
            <a:ext cx="6489502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5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+1M</a:t>
            </a:r>
            <a:endParaRPr lang="en-US" sz="4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40248" y="4971455"/>
            <a:ext cx="208502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Geist" panose="020B0604020202020204" charset="-52"/>
              </a:rPr>
              <a:t>Гектаров за 30 лет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  <a:cs typeface="Geist" panose="020B0604020202020204" charset="-5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8068" y="5297198"/>
            <a:ext cx="6489502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Лесистость увеличилась на 1 млн га за три десятилетия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2711" y="4232553"/>
            <a:ext cx="6489502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5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1га</a:t>
            </a:r>
            <a:endParaRPr lang="en-US" sz="4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4891" y="4971455"/>
            <a:ext cx="208502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На человека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2711" y="5316022"/>
            <a:ext cx="6489502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Приходится в 2 раза больше, чем среднемировой показатель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8068" y="5845254"/>
            <a:ext cx="6373535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Самые лесистые районы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0686" y="6278285"/>
            <a:ext cx="6373535" cy="1018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Россонский район — 70%</a:t>
            </a:r>
            <a:endParaRPr lang="en-US" sz="16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Лельчицкий район — 67%</a:t>
            </a:r>
            <a:endParaRPr lang="en-US" sz="16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Аквамассивы Полесья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6179" y="5845254"/>
            <a:ext cx="6373535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Наименее лесистый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6179" y="6278285"/>
            <a:ext cx="6373535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Несвижский район (11%) характеризуется интенсивным сельскохозяйственным освоением и урбанизацией.</a:t>
            </a:r>
            <a:endParaRPr lang="en-US" sz="16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97CD0EF-560A-47F9-181F-4415E964EE82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"/>
            <a:ext cx="5703394" cy="8229599"/>
          </a:xfrm>
          <a:prstGeom prst="rect">
            <a:avLst/>
          </a:prstGeom>
          <a:effectLst>
            <a:outerShdw blurRad="50800" dist="50800" dir="42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554990" y="810657"/>
            <a:ext cx="7844195" cy="488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Породный состав и биоразнообразие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54990" y="1667569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Породный состав</a:t>
            </a:r>
            <a:endParaRPr lang="en-US" sz="20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54990" y="2166541"/>
            <a:ext cx="3756660" cy="14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Леса Беларуси представлены тремя основными группами древесных пород, каждая из которых выполняет специфические экологические функции и определяет характер биоценоза.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4990" y="3857328"/>
            <a:ext cx="3756660" cy="337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Хвойные (60,2%)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сосна обыкновенная (50,4%), ель европейская (9,4%). Хвойные леса доминируют на севере и в песчаных районах.</a:t>
            </a:r>
            <a:endParaRPr lang="en-US" sz="15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Мелколиственные (33,6%)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береза повислая и пушистая (23,1%), ольха серая и черная, осина. Распространены повсеместно.</a:t>
            </a:r>
            <a:endParaRPr lang="en-US" sz="15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Широколиственные (~5%)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дуб черешчатый (3,5%), граб обыкновенный, ясень, клен, липа. Сосредоточены в южных районах.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868545" y="1621134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Биоразнообразие</a:t>
            </a:r>
            <a:endParaRPr lang="en-US" sz="20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68545" y="2166541"/>
            <a:ext cx="375666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Лесные экосистемы Беларуси являются ареалом обитания для множества видов, включая редкие и охраняемые.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68545" y="3394374"/>
            <a:ext cx="3756660" cy="209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457 видов позвоночных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млекопитающие, птицы, рептилии, амфибии, рыбы</a:t>
            </a:r>
            <a:endParaRPr lang="en-US" sz="15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Более 20 000 видов беспозвоночных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насекомые, паукообразные, моллюски</a:t>
            </a:r>
            <a:endParaRPr lang="en-US" sz="15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5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Красная книга: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зубр, бурый медведь, рысь, выдра, беркут, глухарь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7236"/>
            <a:ext cx="74842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Функции лесных экосистем</a:t>
            </a:r>
            <a:endParaRPr lang="en-US" sz="39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64149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Леса Беларуси выполняют многоплановые функции, определяющие качество окружающей среды и устойчивость территорий. Их значение выходит за рамки экономической полезности.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781300"/>
            <a:ext cx="4215289" cy="4700945"/>
          </a:xfrm>
          <a:prstGeom prst="roundRect">
            <a:avLst>
              <a:gd name="adj" fmla="val 423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768" y="29872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3150870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780949"/>
            <a:ext cx="33085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Экологические функции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9768" y="4210169"/>
            <a:ext cx="3803333" cy="274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Поглощение CO₂ и борьба с климатическими изменениями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Выработка кислорода (до 120 кг на дерево в год)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Регуляция водного режима и защита почв от эрозии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Сохранение генетического разнообразия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781300"/>
            <a:ext cx="4215408" cy="4700945"/>
          </a:xfrm>
          <a:prstGeom prst="roundRect">
            <a:avLst>
              <a:gd name="adj" fmla="val 4237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3415" y="29872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3150870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3780949"/>
            <a:ext cx="34056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Экономические функции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13415" y="4210169"/>
            <a:ext cx="3803452" cy="306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40 000 рабочих мест в лесном хозяйстве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8,4% от общего объема экспорта страны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Недревесные лесные продукты: ягоды, грибы, лекарственные травы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Древесина и неметаллические стройматериалы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781300"/>
            <a:ext cx="4215289" cy="4700945"/>
          </a:xfrm>
          <a:prstGeom prst="roundRect">
            <a:avLst>
              <a:gd name="adj" fmla="val 423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27181" y="29872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0892" y="3150870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3780949"/>
            <a:ext cx="29712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Социальные функции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27181" y="4210169"/>
            <a:ext cx="3803333" cy="2431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Рекреационное и оздоровительное использование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Развитие экотуризма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Сохранение культурно-исторического наследия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Образовательная и научно-исследовательская деятельность</a:t>
            </a:r>
            <a:endParaRPr lang="en-US" sz="15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975BE95-2726-0E55-76CD-47D97EAA5915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117" y="509667"/>
            <a:ext cx="5608915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Угроза №1: Лесные пожары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13735" y="1364496"/>
            <a:ext cx="2388275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Ситуация </a:t>
            </a:r>
            <a:r>
              <a:rPr lang="en-US" sz="1900" b="1" dirty="0">
                <a:solidFill>
                  <a:srgbClr val="006747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2025</a:t>
            </a:r>
            <a:r>
              <a:rPr lang="en-US" sz="19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 года</a:t>
            </a:r>
            <a:endParaRPr lang="en-US" sz="19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21118" y="1813560"/>
            <a:ext cx="729162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Лесные пожары представляют собой одну из наиболее острых проблем лесного хозяйства. В 2025 году зафиксирован значительный рост как количества возгораний, так и площади, охваченной огнем.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21117" y="2943344"/>
            <a:ext cx="3008948" cy="190024"/>
          </a:xfrm>
          <a:prstGeom prst="roundRect">
            <a:avLst>
              <a:gd name="adj" fmla="val 72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1117" y="2943344"/>
            <a:ext cx="3008948" cy="190024"/>
          </a:xfrm>
          <a:prstGeom prst="roundRect">
            <a:avLst>
              <a:gd name="adj" fmla="val 72002"/>
            </a:avLst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4444008" y="2943344"/>
            <a:ext cx="450175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700+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1117" y="3296603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Пожаров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21117" y="3650456"/>
            <a:ext cx="3573066" cy="42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Более 700 возгораний зафиксировано в 2025 году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39678" y="2943344"/>
            <a:ext cx="2897148" cy="190024"/>
          </a:xfrm>
          <a:prstGeom prst="roundRect">
            <a:avLst>
              <a:gd name="adj" fmla="val 72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39678" y="2943344"/>
            <a:ext cx="2897148" cy="190024"/>
          </a:xfrm>
          <a:prstGeom prst="roundRect">
            <a:avLst>
              <a:gd name="adj" fmla="val 72002"/>
            </a:avLst>
          </a:prstGeom>
          <a:solidFill>
            <a:srgbClr val="006747"/>
          </a:solidFill>
          <a:ln/>
        </p:spPr>
      </p:sp>
      <p:sp>
        <p:nvSpPr>
          <p:cNvPr id="12" name="Text 10"/>
          <p:cNvSpPr/>
          <p:nvPr/>
        </p:nvSpPr>
        <p:spPr>
          <a:xfrm>
            <a:off x="8050768" y="2943344"/>
            <a:ext cx="561975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1200+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39678" y="3296603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Гектаров леса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39678" y="3650456"/>
            <a:ext cx="3573066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Свыше 1200 га лесной площади уничтожено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21117" y="4388763"/>
            <a:ext cx="3233499" cy="190024"/>
          </a:xfrm>
          <a:prstGeom prst="roundRect">
            <a:avLst>
              <a:gd name="adj" fmla="val 72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1118" y="4388763"/>
            <a:ext cx="1636395" cy="190024"/>
          </a:xfrm>
          <a:prstGeom prst="roundRect">
            <a:avLst>
              <a:gd name="adj" fmla="val 211630"/>
            </a:avLst>
          </a:prstGeom>
          <a:solidFill>
            <a:srgbClr val="006747"/>
          </a:solidFill>
          <a:ln/>
        </p:spPr>
      </p:sp>
      <p:sp>
        <p:nvSpPr>
          <p:cNvPr id="17" name="Text 15"/>
          <p:cNvSpPr/>
          <p:nvPr/>
        </p:nvSpPr>
        <p:spPr>
          <a:xfrm>
            <a:off x="4668560" y="4388763"/>
            <a:ext cx="225623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2x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1117" y="4742021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Рост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37393" y="5095875"/>
            <a:ext cx="3573066" cy="42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Увеличение в 2 раза по сравнению с предыдущим годом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1118" y="6062134"/>
            <a:ext cx="383631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Причины роста пожарной опасности</a:t>
            </a:r>
            <a:endParaRPr lang="en-US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13735" y="6559240"/>
            <a:ext cx="7291626" cy="98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Повышение среднегодовой температуры и увеличение числа жарких дней</a:t>
            </a:r>
            <a:endParaRPr lang="en-US" sz="15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Сокращение периода устойчивых заморозков</a:t>
            </a:r>
            <a:endParaRPr lang="en-US" sz="15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Изменение режима осадков — увеличение периодов засухи</a:t>
            </a:r>
            <a:endParaRPr lang="en-US" sz="15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Антропогенный фактор — неосторожное обращение с огнем</a:t>
            </a:r>
            <a:endParaRPr lang="en-US" sz="15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813" y="677902"/>
            <a:ext cx="4720908" cy="47209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261813" y="6001226"/>
            <a:ext cx="4779556" cy="1333262"/>
          </a:xfrm>
          <a:prstGeom prst="roundRect">
            <a:avLst>
              <a:gd name="adj" fmla="val 10262"/>
            </a:avLst>
          </a:prstGeom>
          <a:solidFill>
            <a:srgbClr val="B3FFE7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6" y="6179284"/>
            <a:ext cx="237530" cy="1900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691669" y="6155531"/>
            <a:ext cx="193059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Особенно уязвимы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9691669" y="6509385"/>
            <a:ext cx="4161060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Хвойные леса составляют 50% территории и наиболее восприимчивы к возгораниям из-за наличия смолистых веществ.</a:t>
            </a:r>
            <a:endParaRPr lang="en-US" sz="14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262E2-E1D5-7105-274C-4386F46A17B2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816293"/>
            <a:ext cx="10185559" cy="572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Угроза №2: Вредители, болезни и климат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3425" y="1727954"/>
            <a:ext cx="13163550" cy="1057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Массовое распространение вредителей и болезней лесных насаждений представляет собой серьезную угрозу здоровью лесных экосистем. Климатические изменения создают благоприятные условия для размножения фитофагов.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3425" y="3145750"/>
            <a:ext cx="3150870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Основные вредители</a:t>
            </a:r>
            <a:endParaRPr lang="en-US" sz="22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3425" y="3658791"/>
            <a:ext cx="3776867" cy="293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Жуки-короеды</a:t>
            </a: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— уничтожают хвойные насаждения, откладывая личинки под корой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Пилильщики</a:t>
            </a: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— повреждают хвою и молодые побеги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Непарнолетний шелкопряд</a:t>
            </a: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— уничтожает листву лиственных пород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77445" y="3145750"/>
            <a:ext cx="4089202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Причины распространения</a:t>
            </a:r>
            <a:endParaRPr lang="en-US" sz="22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1278" y="3658791"/>
            <a:ext cx="4089202" cy="335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Потепление климата и смягчение зимних температур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Ослабление деревьев в результате засух и жары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Высокая плотность насаждений и монокультуры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Снижение устойчивости экосистем к биотическим стрессорам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21466" y="3145750"/>
            <a:ext cx="4089202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Проблема массового усыхания</a:t>
            </a:r>
            <a:endParaRPr lang="en-US" sz="22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21466" y="4002524"/>
            <a:ext cx="4089202" cy="246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Сосновые насаждения на севере и в центральных районах страны подвергаются массовому усыханию. Погибшие деревья становятся топливом для пожаров и источником распространения вредителей.</a:t>
            </a:r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C9E8A33-1C72-2A54-1C4A-75A79544D8A9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1472" y="438209"/>
            <a:ext cx="8475032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Угроза №3: Трансграничные факторы (Беловежская пуща)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46351" y="1546741"/>
            <a:ext cx="7731358" cy="75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Беловежская пуща — объект всемирного наследия ЮНЕСКО, представляющий собой уникальный реликтовый лесной массив. Политические конфликты создают серьезные экологические проблемы.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351" y="2545331"/>
            <a:ext cx="699968" cy="8399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45021" y="2608551"/>
            <a:ext cx="175010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Проблема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45022" y="2917742"/>
            <a:ext cx="7589034" cy="424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Строительство заградительного забора на границе с Польшей «разрезало» </a:t>
            </a:r>
            <a:endParaRPr lang="ru-RU" sz="1600" dirty="0">
              <a:solidFill>
                <a:srgbClr val="4B4A4A"/>
              </a:solidFill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территорию пущи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591" y="3385317"/>
            <a:ext cx="699968" cy="8399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45022" y="3550607"/>
            <a:ext cx="175010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Вырубка леса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845021" y="3857671"/>
            <a:ext cx="722542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Уничтожено более 2,6 га реликтового леса для строительства забора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971" y="4214296"/>
            <a:ext cx="699968" cy="8399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45022" y="4305692"/>
            <a:ext cx="2367915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Блокирование миграции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845020" y="4634289"/>
            <a:ext cx="722542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Крупные животные (зубр, лось, волк, рысь) не могут мигрировать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351" y="5087680"/>
            <a:ext cx="699968" cy="83998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45022" y="5139749"/>
            <a:ext cx="2113359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Обеднение генофонда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845022" y="5466351"/>
            <a:ext cx="7225427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Изоляция популяций приводит к инбридингу и вымиранию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256258" y="6527628"/>
            <a:ext cx="7814191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Забор создает физический барьер для миграции животных, нарушает естественные миграционные пути и генетический обмен между популяциями. Дополнительная угроза — проникновение инвазивных видов и распространение болезней.</a:t>
            </a:r>
            <a:endParaRPr lang="en-US" dirty="0"/>
          </a:p>
        </p:txBody>
      </p:sp>
      <p:sp>
        <p:nvSpPr>
          <p:cNvPr id="18" name="Shape 11"/>
          <p:cNvSpPr/>
          <p:nvPr/>
        </p:nvSpPr>
        <p:spPr>
          <a:xfrm>
            <a:off x="6038731" y="6474556"/>
            <a:ext cx="15240" cy="795099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A2FE2EE-DFB3-1DFE-E5D2-8FEA632212E2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573" y="510493"/>
            <a:ext cx="11498698" cy="50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Geist" panose="020B0604020202020204" charset="-52"/>
              </a:rPr>
              <a:t>Структура лесопользования и устойчивое развитие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  <a:cs typeface="Geist" panose="020B0604020202020204" charset="-5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27573" y="1336358"/>
            <a:ext cx="11936917" cy="63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Леса Беларуси распределены по функциональному назначению в соответствии с принципами устойчивого развития и сохранения экологического баланса.</a:t>
            </a:r>
            <a:endParaRPr lang="en-US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7573" y="2193790"/>
            <a:ext cx="318873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Распределение по группам</a:t>
            </a:r>
            <a:endParaRPr lang="en-US" sz="19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72837" y="2699384"/>
            <a:ext cx="5695831" cy="801053"/>
          </a:xfrm>
          <a:prstGeom prst="roundRect">
            <a:avLst>
              <a:gd name="adj" fmla="val 4368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15567" y="2852736"/>
            <a:ext cx="201025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Первая группа (49%)</a:t>
            </a:r>
            <a:endParaRPr lang="en-US" sz="17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26189" y="3144677"/>
            <a:ext cx="538912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Экологические функции, ООПТ — 15%</a:t>
            </a:r>
            <a:endParaRPr lang="en-US" sz="14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75705" y="2699384"/>
            <a:ext cx="5695831" cy="801053"/>
          </a:xfrm>
          <a:prstGeom prst="roundRect">
            <a:avLst>
              <a:gd name="adj" fmla="val 4368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22960" y="2852736"/>
            <a:ext cx="200132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Вторая группа (51%)</a:t>
            </a:r>
            <a:endParaRPr lang="en-US" sz="17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29058" y="3144677"/>
            <a:ext cx="538912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Эксплуатационные функции</a:t>
            </a:r>
            <a:endParaRPr lang="en-US" sz="14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7573" y="3777056"/>
            <a:ext cx="4110633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Принципы устойчивого лесопользования</a:t>
            </a:r>
            <a:endParaRPr lang="en-US" sz="19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07816" y="4181502"/>
            <a:ext cx="6598325" cy="921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Лесовосстановление: более 30 000 га ежегодно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Расчетная лесосека на основе принципа неистощительности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Мониторинг состояния лесов и биоразнообразия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Соблюдение режима рубок и регенерации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7573" y="5262893"/>
            <a:ext cx="3131463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Положительная динамика</a:t>
            </a:r>
            <a:endParaRPr lang="en-US" sz="19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7817" y="5719167"/>
            <a:ext cx="11956674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За последние 7 лет наблюдается устойчивый рост показателей лесопокрытой площади и запасов древесины, что свидетельствует об эффективности проводимой лесохозяйственной политики.</a:t>
            </a:r>
            <a:endParaRPr lang="en-US" sz="16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41399" y="6340426"/>
            <a:ext cx="5014079" cy="182166"/>
          </a:xfrm>
          <a:prstGeom prst="roundRect">
            <a:avLst>
              <a:gd name="adj" fmla="val 7204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1399" y="6340426"/>
            <a:ext cx="511373" cy="182166"/>
          </a:xfrm>
          <a:prstGeom prst="roundRect">
            <a:avLst>
              <a:gd name="adj" fmla="val 72042"/>
            </a:avLst>
          </a:prstGeom>
          <a:solidFill>
            <a:srgbClr val="0067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777" y="6340426"/>
            <a:ext cx="55899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10.2%</a:t>
            </a:r>
            <a:endParaRPr lang="en-US" sz="14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1399" y="6675706"/>
            <a:ext cx="234743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Лесопокрытая площадь</a:t>
            </a:r>
            <a:endParaRPr lang="en-US" sz="17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1399" y="6967647"/>
            <a:ext cx="5682377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Увеличение за 7 лет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57602" y="6340426"/>
            <a:ext cx="5014198" cy="182166"/>
          </a:xfrm>
          <a:prstGeom prst="roundRect">
            <a:avLst>
              <a:gd name="adj" fmla="val 7204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7602" y="6340426"/>
            <a:ext cx="782122" cy="182166"/>
          </a:xfrm>
          <a:prstGeom prst="roundRect">
            <a:avLst>
              <a:gd name="adj" fmla="val 72042"/>
            </a:avLst>
          </a:prstGeom>
          <a:solidFill>
            <a:srgbClr val="006747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1100" y="6340426"/>
            <a:ext cx="55899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15.6%</a:t>
            </a:r>
            <a:endParaRPr lang="en-US" sz="14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57602" y="6675706"/>
            <a:ext cx="1822609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Запас древесины</a:t>
            </a:r>
            <a:endParaRPr lang="en-US" sz="17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57602" y="6967647"/>
            <a:ext cx="568249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Рост за тот же период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8ECFA67-A82D-2B34-5FE3-CCE422632B6F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2094"/>
            <a:ext cx="73487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Меры по сохранению лесов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670" y="13473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Программа сохранения лесных экосистем Беларуси реализуется по трем направлениям ПРООН (Программа развития ООН), обеспечивающим комплексный подход к решению экологических проблем.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437328"/>
            <a:ext cx="4215289" cy="5230178"/>
          </a:xfrm>
          <a:prstGeom prst="roundRect">
            <a:avLst>
              <a:gd name="adj" fmla="val 4238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460188"/>
            <a:ext cx="4169569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6" name="Text 4"/>
          <p:cNvSpPr/>
          <p:nvPr/>
        </p:nvSpPr>
        <p:spPr>
          <a:xfrm>
            <a:off x="2752606" y="25679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15008" y="3253859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Инновации и цифровые технологии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5008" y="3993237"/>
            <a:ext cx="3772853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Спутниковый мониторинг состояния лесов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Раннее обнаружение пожаров и вредителей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Цифровая инвентаризация лесных ресурсов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Геоинформационные системы (ГИС)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Беспилотные летательные аппараты для мониторинга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2437328"/>
            <a:ext cx="4215408" cy="5230178"/>
          </a:xfrm>
          <a:prstGeom prst="roundRect">
            <a:avLst>
              <a:gd name="adj" fmla="val 4237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30297" y="2460188"/>
            <a:ext cx="4169688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11" name="Text 9"/>
          <p:cNvSpPr/>
          <p:nvPr/>
        </p:nvSpPr>
        <p:spPr>
          <a:xfrm>
            <a:off x="7166253" y="25679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428655" y="32538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Партнерства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28655" y="3683079"/>
            <a:ext cx="3772972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Государственные структуры лесного хозяйства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Международные организации (ПРООН, ФАО, ЮНЕСКО)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Местные сообщества и население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Научные учреждения и университеты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Неправительственные экологические организации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2437328"/>
            <a:ext cx="4215289" cy="5230178"/>
          </a:xfrm>
          <a:prstGeom prst="roundRect">
            <a:avLst>
              <a:gd name="adj" fmla="val 4238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4063" y="2460188"/>
            <a:ext cx="4169569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16" name="Text 14"/>
          <p:cNvSpPr/>
          <p:nvPr/>
        </p:nvSpPr>
        <p:spPr>
          <a:xfrm>
            <a:off x="11580019" y="25679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842421" y="3253859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Экологическое просвещение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42421" y="3993237"/>
            <a:ext cx="3772853" cy="3453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Образовательные экологические маршруты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Повышение осведомленности молодежи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Публичные кампании по охране лесов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Тренинги для работников лесного хозяйства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Школьные программы экологического образования</a:t>
            </a:r>
            <a:endParaRPr lang="en-US" sz="15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439D5A-BC34-0635-C148-A72F76E26C5E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909" y="806887"/>
            <a:ext cx="4988838" cy="51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Заключение и выводы</a:t>
            </a:r>
            <a:endParaRPr lang="en-US" sz="35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909" y="1668185"/>
            <a:ext cx="32392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Позитивные тенденции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1049" y="2110502"/>
            <a:ext cx="45720" cy="684371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5" name="Text 3"/>
          <p:cNvSpPr/>
          <p:nvPr/>
        </p:nvSpPr>
        <p:spPr>
          <a:xfrm>
            <a:off x="816769" y="2142277"/>
            <a:ext cx="4085153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Увеличение лесопокрытой площади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006" y="2507830"/>
            <a:ext cx="3892629" cy="26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За 30 лет лесистость выросла на 1 млн га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1049" y="3024783"/>
            <a:ext cx="45720" cy="684371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8" name="Text 6"/>
          <p:cNvSpPr/>
          <p:nvPr/>
        </p:nvSpPr>
        <p:spPr>
          <a:xfrm>
            <a:off x="931723" y="3062375"/>
            <a:ext cx="2701290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Рост запасов древесины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007" y="3422111"/>
            <a:ext cx="4085153" cy="26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Положительная динамика на 15,6% за 7 лет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1049" y="3939064"/>
            <a:ext cx="45720" cy="684371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9"/>
          <p:cNvSpPr/>
          <p:nvPr/>
        </p:nvSpPr>
        <p:spPr>
          <a:xfrm>
            <a:off x="816769" y="3984724"/>
            <a:ext cx="3892629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Эффективное лесовосстановление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007" y="4369359"/>
            <a:ext cx="4341148" cy="23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Более 30 000 га восстанавливается ежегодно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24512" y="16681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Основные угрозы</a:t>
            </a:r>
            <a:endParaRPr lang="en-US" sz="195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24512" y="2221230"/>
            <a:ext cx="82629" cy="82629"/>
          </a:xfrm>
          <a:prstGeom prst="roundRect">
            <a:avLst>
              <a:gd name="adj" fmla="val 553317"/>
            </a:avLst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44897" y="2133362"/>
            <a:ext cx="2067401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Лесные пожары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4897" y="2529483"/>
            <a:ext cx="2853214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Рост в 2 раза в 2025 году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70394" y="2221230"/>
            <a:ext cx="82629" cy="82629"/>
          </a:xfrm>
          <a:prstGeom prst="roundRect">
            <a:avLst>
              <a:gd name="adj" fmla="val 553317"/>
            </a:avLst>
          </a:prstGeom>
          <a:solidFill>
            <a:srgbClr val="0067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90778" y="2133362"/>
            <a:ext cx="2378869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Вредители и болезни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90778" y="2529483"/>
            <a:ext cx="285333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Массовое усыхание насаждений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24512" y="3135511"/>
            <a:ext cx="82629" cy="82629"/>
          </a:xfrm>
          <a:prstGeom prst="roundRect">
            <a:avLst>
              <a:gd name="adj" fmla="val 553317"/>
            </a:avLst>
          </a:prstGeom>
          <a:solidFill>
            <a:srgbClr val="006747"/>
          </a:solidFill>
          <a:ln/>
        </p:spPr>
      </p:sp>
      <p:sp>
        <p:nvSpPr>
          <p:cNvPr id="21" name="Text 19"/>
          <p:cNvSpPr/>
          <p:nvPr/>
        </p:nvSpPr>
        <p:spPr>
          <a:xfrm>
            <a:off x="7744897" y="3047643"/>
            <a:ext cx="2853214" cy="51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Трансграничные барьеры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4897" y="3449973"/>
            <a:ext cx="2853214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Разделение экосистем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770394" y="3135511"/>
            <a:ext cx="82629" cy="82629"/>
          </a:xfrm>
          <a:prstGeom prst="roundRect">
            <a:avLst>
              <a:gd name="adj" fmla="val 553317"/>
            </a:avLst>
          </a:prstGeom>
          <a:solidFill>
            <a:srgbClr val="0067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990778" y="3047643"/>
            <a:ext cx="2853333" cy="51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Климатические изменения</a:t>
            </a:r>
            <a:endParaRPr lang="en-US" sz="16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34680" y="3443764"/>
            <a:ext cx="285333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Потепление и засухи</a:t>
            </a:r>
            <a:endParaRPr lang="en-US" sz="15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3909" y="4993277"/>
            <a:ext cx="13042583" cy="28218"/>
          </a:xfrm>
          <a:prstGeom prst="rect">
            <a:avLst/>
          </a:prstGeom>
          <a:solidFill>
            <a:srgbClr val="4B4A4A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41916" y="53831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Главный вывод</a:t>
            </a:r>
            <a:endParaRPr lang="en-US" sz="20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1916" y="5900023"/>
            <a:ext cx="12794575" cy="48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«Лес — это живой организм. С ним нужно обращаться не просто как с ресурсом, а как с частью нашей общей реальности, от которой зависит наше будущее» </a:t>
            </a: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Армен Мартиросян, представитель ПРООН в Беларуси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3909" y="5176480"/>
            <a:ext cx="22860" cy="1363623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30" name="Text 28"/>
          <p:cNvSpPr/>
          <p:nvPr/>
        </p:nvSpPr>
        <p:spPr>
          <a:xfrm>
            <a:off x="793909" y="6695123"/>
            <a:ext cx="13202582" cy="72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Сохранение лесных экосистем требует комплексного подхода, включающего научный мониторинг, международное сотрудничество, внедрение инноваций и активное участие общества. Только совместные усилия государства, международных организаций и гражданского общества смогут обеспечить устойчивое развитие лесного фонда Беларуси для будущих поколений.</a:t>
            </a:r>
            <a:endParaRPr lang="en-US" sz="150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3DCC7CB-1DC3-FC19-567F-7A1B42FF0007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6511" y="3804761"/>
            <a:ext cx="59150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Microsoft Yi Baiti" panose="03000500000000000000" pitchFamily="66" charset="0"/>
                <a:ea typeface="Microsoft Yi Baiti" panose="03000500000000000000" pitchFamily="66" charset="0"/>
                <a:cs typeface="Noto Serif SC Bold" pitchFamily="34" charset="-120"/>
              </a:rPr>
              <a:t>Спасибо за внимание!</a:t>
            </a:r>
            <a:endParaRPr lang="en-US" sz="4000" dirty="0">
              <a:latin typeface="Microsoft Yi Baiti" panose="03000500000000000000" pitchFamily="66" charset="0"/>
              <a:ea typeface="Microsoft Yi Baiti" panose="03000500000000000000" pitchFamily="66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38D0F1-6CE6-3B44-BE49-85B99E1FF939}"/>
              </a:ext>
            </a:extLst>
          </p:cNvPr>
          <p:cNvSpPr/>
          <p:nvPr/>
        </p:nvSpPr>
        <p:spPr>
          <a:xfrm>
            <a:off x="12857698" y="7702277"/>
            <a:ext cx="1772702" cy="527323"/>
          </a:xfrm>
          <a:prstGeom prst="rect">
            <a:avLst/>
          </a:prstGeom>
          <a:solidFill>
            <a:srgbClr val="E0F4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1098</Words>
  <Application>Microsoft Office PowerPoint</Application>
  <PresentationFormat>Произвольный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Microsoft Yi Baiti</vt:lpstr>
      <vt:lpstr>Noto Serif SC Bold</vt:lpstr>
      <vt:lpstr>Arial</vt:lpstr>
      <vt:lpstr>Geist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Маргарита Рублевская</cp:lastModifiedBy>
  <cp:revision>2</cp:revision>
  <dcterms:created xsi:type="dcterms:W3CDTF">2026-04-07T18:06:17Z</dcterms:created>
  <dcterms:modified xsi:type="dcterms:W3CDTF">2026-04-07T18:49:45Z</dcterms:modified>
</cp:coreProperties>
</file>