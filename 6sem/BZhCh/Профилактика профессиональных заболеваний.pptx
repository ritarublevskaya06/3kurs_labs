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DM Sans" pitchFamily="2" charset="0"/>
      <p:regular r:id="rId13"/>
    </p:embeddedFont>
    <p:embeddedFont>
      <p:font typeface="Libre Baskerville" panose="02000000000000000000" pitchFamily="2" charset="0"/>
      <p:regular r:id="rId1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D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10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58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44575"/>
            <a:ext cx="4722763" cy="22149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Профилактика профессиональных заболеваний в Республике Беларусь: виды, причины, меры защиты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367211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Безопасность жизнедеятельности человека</a:t>
            </a:r>
            <a:endParaRPr lang="en-US" sz="11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32C6B9B-7EA6-76FB-93AE-897AEE3B9348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66651"/>
            <a:ext cx="6364412" cy="343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Что такое профессиональное заболевание?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80640" y="1075953"/>
            <a:ext cx="8182719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Профессиональное заболевание — это заболевание, вызванное воздействием вредных факторов производственной среды и/или трудового процесса. Важная особенность: заболевание развивается постепенно в результате длительного воздействия (в отличие от острой травмы).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80640" y="1874565"/>
            <a:ext cx="2638871" cy="1227386"/>
          </a:xfrm>
          <a:prstGeom prst="roundRect">
            <a:avLst>
              <a:gd name="adj" fmla="val 470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01675" y="2016621"/>
            <a:ext cx="1796802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Химические факторы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2697" y="2310929"/>
            <a:ext cx="2354759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Интоксикации, пневмокониозы, хронические отравления промышленными веществами.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52490" y="1874565"/>
            <a:ext cx="2638946" cy="1227386"/>
          </a:xfrm>
          <a:prstGeom prst="roundRect">
            <a:avLst>
              <a:gd name="adj" fmla="val 470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76204" y="2016621"/>
            <a:ext cx="179151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Физические факторы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394546" y="2310929"/>
            <a:ext cx="235483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Вибрационная болезнь, профессиональная тугоухость, перегрев, переохлаждение.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24414" y="1874565"/>
            <a:ext cx="2638946" cy="1227386"/>
          </a:xfrm>
          <a:prstGeom prst="roundRect">
            <a:avLst>
              <a:gd name="adj" fmla="val 470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5558" y="2016621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Перенапряжение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166470" y="2310929"/>
            <a:ext cx="235483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Радикулопатии, тендовагиниты, заболевания опорно-двигательного аппарата.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0640" y="3234928"/>
            <a:ext cx="2638871" cy="1441921"/>
          </a:xfrm>
          <a:prstGeom prst="roundRect">
            <a:avLst>
              <a:gd name="adj" fmla="val 400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344" y="3376985"/>
            <a:ext cx="205546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Биологические факторы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2697" y="3671292"/>
            <a:ext cx="2354759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Инфекции, контактные заболевания у медицинского и лабораторного персонала.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52490" y="3234928"/>
            <a:ext cx="2638946" cy="1441921"/>
          </a:xfrm>
          <a:prstGeom prst="roundRect">
            <a:avLst>
              <a:gd name="adj" fmla="val 400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4546" y="3376985"/>
            <a:ext cx="2354833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Профессиональные аллергозы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94546" y="3885828"/>
            <a:ext cx="235483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Аллергические реакции на пыль, химикаты, белковые вещества.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24414" y="3234928"/>
            <a:ext cx="2638946" cy="1441921"/>
          </a:xfrm>
          <a:prstGeom prst="roundRect">
            <a:avLst>
              <a:gd name="adj" fmla="val 4000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6470" y="3376985"/>
            <a:ext cx="2354833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Профессиональные новообразования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66470" y="3885828"/>
            <a:ext cx="2354833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Опасные канцерогены на рабочих местах, длительное воздействие — риск развития опухолей.</a:t>
            </a:r>
            <a:endParaRPr lang="en-US" sz="10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F73C4C-CFF1-EA71-D7B5-7C114186150C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9640" y="470669"/>
            <a:ext cx="4753719" cy="583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Причины профессиональных заболеваний — три основные группы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3909640" y="1373460"/>
            <a:ext cx="2328788" cy="1854622"/>
          </a:xfrm>
          <a:prstGeom prst="roundRect">
            <a:avLst>
              <a:gd name="adj" fmla="val 3698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09640" y="1359173"/>
            <a:ext cx="2328788" cy="57150"/>
          </a:xfrm>
          <a:prstGeom prst="roundRect">
            <a:avLst>
              <a:gd name="adj" fmla="val 85791"/>
            </a:avLst>
          </a:prstGeom>
          <a:solidFill>
            <a:srgbClr val="B88E23"/>
          </a:solidFill>
          <a:ln/>
        </p:spPr>
      </p:sp>
      <p:sp>
        <p:nvSpPr>
          <p:cNvPr id="6" name="Shape 3"/>
          <p:cNvSpPr/>
          <p:nvPr/>
        </p:nvSpPr>
        <p:spPr>
          <a:xfrm>
            <a:off x="4898901" y="1198364"/>
            <a:ext cx="350193" cy="350193"/>
          </a:xfrm>
          <a:prstGeom prst="roundRect">
            <a:avLst>
              <a:gd name="adj" fmla="val 163196"/>
            </a:avLst>
          </a:prstGeom>
          <a:solidFill>
            <a:srgbClr val="B88E23"/>
          </a:solidFill>
          <a:ln/>
        </p:spPr>
      </p:sp>
      <p:sp>
        <p:nvSpPr>
          <p:cNvPr id="7" name="Text 4"/>
          <p:cNvSpPr/>
          <p:nvPr/>
        </p:nvSpPr>
        <p:spPr>
          <a:xfrm>
            <a:off x="5003974" y="1285875"/>
            <a:ext cx="140047" cy="175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040609" y="1665238"/>
            <a:ext cx="1613743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Технические причины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40609" y="1905298"/>
            <a:ext cx="2066851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Несовершенство оборудования, плохая вентиляция, превышение нормативов шума и вибрации, отсутствие мероприятий по уменьшению вредных выбросов.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334497" y="1373460"/>
            <a:ext cx="2328863" cy="1854622"/>
          </a:xfrm>
          <a:prstGeom prst="roundRect">
            <a:avLst>
              <a:gd name="adj" fmla="val 3698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34497" y="1359173"/>
            <a:ext cx="2328863" cy="57150"/>
          </a:xfrm>
          <a:prstGeom prst="roundRect">
            <a:avLst>
              <a:gd name="adj" fmla="val 85791"/>
            </a:avLst>
          </a:prstGeom>
          <a:solidFill>
            <a:srgbClr val="B88E23"/>
          </a:solidFill>
          <a:ln/>
        </p:spPr>
      </p:sp>
      <p:sp>
        <p:nvSpPr>
          <p:cNvPr id="12" name="Shape 9"/>
          <p:cNvSpPr/>
          <p:nvPr/>
        </p:nvSpPr>
        <p:spPr>
          <a:xfrm>
            <a:off x="7323832" y="1198364"/>
            <a:ext cx="350193" cy="350193"/>
          </a:xfrm>
          <a:prstGeom prst="roundRect">
            <a:avLst>
              <a:gd name="adj" fmla="val 163196"/>
            </a:avLst>
          </a:prstGeom>
          <a:solidFill>
            <a:srgbClr val="B88E23"/>
          </a:solidFill>
          <a:ln/>
        </p:spPr>
      </p:sp>
      <p:sp>
        <p:nvSpPr>
          <p:cNvPr id="13" name="Text 10"/>
          <p:cNvSpPr/>
          <p:nvPr/>
        </p:nvSpPr>
        <p:spPr>
          <a:xfrm>
            <a:off x="7428905" y="1285875"/>
            <a:ext cx="140047" cy="175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65466" y="1665238"/>
            <a:ext cx="2033290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Организационные причины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65466" y="1905298"/>
            <a:ext cx="2066925" cy="1191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Допуск без медицинских осмотров, отсутствие инструктажей и контроля, неполное обеспечение средствами индивидуальной защиты (СИЗ), недостаточный график технического обслуживания.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909640" y="3499247"/>
            <a:ext cx="4753719" cy="1173584"/>
          </a:xfrm>
          <a:prstGeom prst="roundRect">
            <a:avLst>
              <a:gd name="adj" fmla="val 5844"/>
            </a:avLst>
          </a:prstGeom>
          <a:solidFill>
            <a:srgbClr val="FFFDFA"/>
          </a:solidFill>
          <a:ln w="14288">
            <a:solidFill>
              <a:srgbClr val="DDD3B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909640" y="3484959"/>
            <a:ext cx="4753719" cy="57150"/>
          </a:xfrm>
          <a:prstGeom prst="roundRect">
            <a:avLst>
              <a:gd name="adj" fmla="val 85791"/>
            </a:avLst>
          </a:prstGeom>
          <a:solidFill>
            <a:srgbClr val="B88E23"/>
          </a:solidFill>
          <a:ln/>
        </p:spPr>
      </p:sp>
      <p:sp>
        <p:nvSpPr>
          <p:cNvPr id="18" name="Shape 15"/>
          <p:cNvSpPr/>
          <p:nvPr/>
        </p:nvSpPr>
        <p:spPr>
          <a:xfrm>
            <a:off x="6111404" y="3324151"/>
            <a:ext cx="350193" cy="350193"/>
          </a:xfrm>
          <a:prstGeom prst="roundRect">
            <a:avLst>
              <a:gd name="adj" fmla="val 163196"/>
            </a:avLst>
          </a:prstGeom>
          <a:solidFill>
            <a:srgbClr val="B88E23"/>
          </a:solidFill>
          <a:ln/>
        </p:spPr>
      </p:sp>
      <p:sp>
        <p:nvSpPr>
          <p:cNvPr id="19" name="Text 16"/>
          <p:cNvSpPr/>
          <p:nvPr/>
        </p:nvSpPr>
        <p:spPr>
          <a:xfrm>
            <a:off x="6216476" y="3411662"/>
            <a:ext cx="140047" cy="1750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040609" y="3791024"/>
            <a:ext cx="1588443" cy="182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Личностные причины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040609" y="4031084"/>
            <a:ext cx="4491782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Игнорирование правил техники безопасности, неприменение СИЗ, работа в состоянии опьянения. По данным 2025 г.: 3,4% травмированных находились в состоянии алкогольного опьянения; среди погибших — 16,5%.</a:t>
            </a:r>
            <a:endParaRPr lang="en-US" sz="90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DA03614-2C0E-7724-CDB1-1F79B29AB432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423267"/>
            <a:ext cx="53387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Система профилактики: три уровня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88379" y="978173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0655" y="1004292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9701" y="1026096"/>
            <a:ext cx="222393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Первичная профилактика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9701" y="1326505"/>
            <a:ext cx="771592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Цель — предупреждение заболевания. Мероприятия: предварительные и периодические медосмотры, санитарно‑гигиенические мероприятия, технические меры (герметизация, вентиляция, автоматизация), обучение и инструктажи.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88379" y="2265611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0655" y="2291730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9701" y="2313533"/>
            <a:ext cx="21985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Вторичная профилактика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39701" y="2613943"/>
            <a:ext cx="77159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Цель — раннее выявление и ограничение прогрессирования. Периодические медосмотры, диспансеризация, скрининги и мониторинг рабочих мест.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8379" y="3331592"/>
            <a:ext cx="313953" cy="313953"/>
          </a:xfrm>
          <a:prstGeom prst="roundRect">
            <a:avLst>
              <a:gd name="adj" fmla="val 18669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0655" y="3357711"/>
            <a:ext cx="20932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701" y="3379515"/>
            <a:ext cx="217497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Третичная профилактика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9701" y="3679924"/>
            <a:ext cx="771592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Цель — реабилитация и минимизация последствий. Лечение, адаптивное трудоустройство, страховые выплаты и программы реабилитации.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8379" y="4277320"/>
            <a:ext cx="8167241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Эффективная система комбинирует технические, организационные и медицинские меры, включая ответственность работодателя и работника.</a:t>
            </a:r>
            <a:endParaRPr lang="en-US" sz="10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B45FE2F-5218-3E1E-AA9E-416512CC83BD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1750"/>
            <a:ext cx="74501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Виды медицинских осмотров и нормативная база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539627"/>
            <a:ext cx="8151763" cy="2088952"/>
          </a:xfrm>
          <a:prstGeom prst="roundRect">
            <a:avLst>
              <a:gd name="adj" fmla="val 285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544389"/>
            <a:ext cx="8141419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3533" y="1634207"/>
            <a:ext cx="28848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Вид осмотра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59423" y="1634207"/>
            <a:ext cx="28824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Срок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72932" y="1634207"/>
            <a:ext cx="28848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Цель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0881" y="1950839"/>
            <a:ext cx="8141419" cy="4064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3533" y="2040657"/>
            <a:ext cx="28848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Предварительный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59423" y="2040657"/>
            <a:ext cx="28824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 приеме на работу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72932" y="2040657"/>
            <a:ext cx="28848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Определение годности кандидата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0881" y="2357289"/>
            <a:ext cx="8141419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3533" y="2447106"/>
            <a:ext cx="28848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Периодический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9423" y="2447106"/>
            <a:ext cx="242522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 течение трудовой деятельности (ежегодно/по графику)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72932" y="2447106"/>
            <a:ext cx="24276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Раннее выявление профессиональной патологии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2990552"/>
            <a:ext cx="8141419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3533" y="3080370"/>
            <a:ext cx="288481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Внеочередной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9423" y="3080370"/>
            <a:ext cx="28824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При ухудшении здоровья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72932" y="3080370"/>
            <a:ext cx="242761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Оценка состояния, определение годности к работе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6119" y="378804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Нормативная база: Постановление Минздрава № 74 от 29.07.2019. Осмотры обязательны для профессий с вредными и (или) опасными факторами.</a:t>
            </a:r>
            <a:endParaRPr lang="en-US" sz="110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3ED9595-6F93-3495-DCEA-BB2BD8F62C59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96106"/>
            <a:ext cx="8167241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Организация периодических медосмотров — пошаговый план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488379" y="1368549"/>
            <a:ext cx="2607915" cy="1474812"/>
          </a:xfrm>
          <a:prstGeom prst="roundRect">
            <a:avLst>
              <a:gd name="adj" fmla="val 397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2668" y="1586992"/>
            <a:ext cx="69726" cy="69726"/>
          </a:xfrm>
          <a:prstGeom prst="roundRect">
            <a:avLst>
              <a:gd name="adj" fmla="val 409818"/>
            </a:avLst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839763" y="15128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Шаг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39763" y="1813247"/>
            <a:ext cx="211224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Составление списка профессий с вредными факторами — Ответственный: наниматель. Срок: до 1 января.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67968" y="1368549"/>
            <a:ext cx="2607990" cy="1474812"/>
          </a:xfrm>
          <a:prstGeom prst="roundRect">
            <a:avLst>
              <a:gd name="adj" fmla="val 397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12257" y="1586992"/>
            <a:ext cx="69726" cy="69726"/>
          </a:xfrm>
          <a:prstGeom prst="roundRect">
            <a:avLst>
              <a:gd name="adj" fmla="val 409818"/>
            </a:avLst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3619351" y="15128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Шаг 2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19351" y="1813247"/>
            <a:ext cx="211231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Формирование графика медосмотров — Организация здравоохранения. Срок: до 1 февраля.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47631" y="1368549"/>
            <a:ext cx="2607915" cy="1474812"/>
          </a:xfrm>
          <a:prstGeom prst="roundRect">
            <a:avLst>
              <a:gd name="adj" fmla="val 397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91920" y="1586992"/>
            <a:ext cx="69726" cy="69726"/>
          </a:xfrm>
          <a:prstGeom prst="roundRect">
            <a:avLst>
              <a:gd name="adj" fmla="val 409818"/>
            </a:avLst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6399014" y="1512838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Шаг 3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99014" y="1813247"/>
            <a:ext cx="211224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Составление списка работников — Наниматель. Срок: за 20 рабочих дней до начала.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8379" y="3118098"/>
            <a:ext cx="3997747" cy="1253356"/>
          </a:xfrm>
          <a:prstGeom prst="roundRect">
            <a:avLst>
              <a:gd name="adj" fmla="val 4676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2668" y="3336541"/>
            <a:ext cx="69726" cy="69726"/>
          </a:xfrm>
          <a:prstGeom prst="roundRect">
            <a:avLst>
              <a:gd name="adj" fmla="val 409818"/>
            </a:avLst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839763" y="326238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Шаг 4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763" y="3562796"/>
            <a:ext cx="350207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Проведение медосмотра — Медицинская комиссия. Период: календарный год (январь–декабрь).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57799" y="3118098"/>
            <a:ext cx="3997747" cy="1253356"/>
          </a:xfrm>
          <a:prstGeom prst="roundRect">
            <a:avLst>
              <a:gd name="adj" fmla="val 4676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2088" y="3336541"/>
            <a:ext cx="69726" cy="69726"/>
          </a:xfrm>
          <a:prstGeom prst="roundRect">
            <a:avLst>
              <a:gd name="adj" fmla="val 409818"/>
            </a:avLst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5009183" y="3262387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Шаг 5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09183" y="3562796"/>
            <a:ext cx="3502075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Составление акта об итогах медосмотров — Организация здравоохранения. Срок: в течение 30 дней после окончания.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8379" y="4525938"/>
            <a:ext cx="862444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Важно: документированность и соблюдение сроков обеспечивают правовую защиту работников и работодателей.</a:t>
            </a:r>
            <a:endParaRPr lang="en-US" sz="10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7AE7204-C414-06F2-E17F-28BC99F4745E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398934"/>
            <a:ext cx="4738241" cy="59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Профилактика перегрева — практические меры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917379" y="1140842"/>
            <a:ext cx="4738241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Для работающих в условиях повышенных температур используются комбинированные меры: организационные, технические и индивидуальные.</a:t>
            </a:r>
            <a:endParaRPr lang="en-US" sz="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7379" y="1601019"/>
            <a:ext cx="296540" cy="2965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37968" y="1601019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Режим труда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337968" y="1845915"/>
            <a:ext cx="4317653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Дополнительные перерывы, ограничение времени пребывания в горячей зоне, чередование смен.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7379" y="2392933"/>
            <a:ext cx="296540" cy="2965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37968" y="2392933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Средства защиты</a:t>
            </a:r>
            <a:endParaRPr lang="en-US" sz="1150" dirty="0"/>
          </a:p>
        </p:txBody>
      </p:sp>
      <p:sp>
        <p:nvSpPr>
          <p:cNvPr id="10" name="Text 5"/>
          <p:cNvSpPr/>
          <p:nvPr/>
        </p:nvSpPr>
        <p:spPr>
          <a:xfrm>
            <a:off x="4337968" y="2637830"/>
            <a:ext cx="4317653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Спецодежда из термостойких материалов, головные уборы, охлаждающие вставки при необходимости.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17379" y="3184847"/>
            <a:ext cx="296540" cy="2965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37968" y="3184847"/>
            <a:ext cx="14827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Питьевой режим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4337968" y="3429744"/>
            <a:ext cx="4317653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Не менее 0,5 л воды в час при температуре воздуха &gt;30°C; температура воды +8…+20°C.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17379" y="3976762"/>
            <a:ext cx="296540" cy="2965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37968" y="3976762"/>
            <a:ext cx="15240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Организация отдыха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4337968" y="4221659"/>
            <a:ext cx="4317653" cy="522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Наличие комнаты отдыха с температурой 24–25°C; при t &gt;32,5°C — перенос работ на утро/вечер или ограничение работ на открытом воздухе.</a:t>
            </a:r>
            <a:endParaRPr lang="en-US" sz="9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00CBDC3-6546-25C5-4A96-C052A95140BA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1711"/>
            <a:ext cx="820571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Профилактика при воздействии характерных факторов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96119" y="1109588"/>
            <a:ext cx="8151763" cy="3175843"/>
          </a:xfrm>
          <a:prstGeom prst="roundRect">
            <a:avLst>
              <a:gd name="adj" fmla="val 187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14351"/>
            <a:ext cx="8142238" cy="4064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2714" y="1204168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Фактор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901976" y="1204168"/>
            <a:ext cx="5056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Меры защиты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0881" y="1520800"/>
            <a:ext cx="8142238" cy="6332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2714" y="1610618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Шум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01976" y="1610618"/>
            <a:ext cx="45993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Противошумные наушники, звукоизоляция, балансировка оборудования, регулярная аудиометрия.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0881" y="2154064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2714" y="2243882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Вибрация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01976" y="2243882"/>
            <a:ext cx="45993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Виброизоляция станков, специальные рукавицы, регламентированные перерывы, мониторинг амплитуд.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0881" y="2787328"/>
            <a:ext cx="8142238" cy="86007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2714" y="2877145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Химические вещества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01976" y="2877145"/>
            <a:ext cx="459938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Герметизация технологических линий, общая и местная вентиляция, фильтрующие респираторы/противогазы, контроль предельно допустимых концентраций, спецодежда.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0881" y="3647405"/>
            <a:ext cx="8142238" cy="6332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2714" y="3737223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Пыль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01976" y="3737223"/>
            <a:ext cx="459938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Пылеулавливание, локальные вытяжки, респираторы, увлажнение и влажная уборка.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6119" y="444490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Комбинация технических и организационных мер снижает экспозицию и риск профессиональной патологии.</a:t>
            </a:r>
            <a:endParaRPr lang="en-US" sz="11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56C4532-043E-A201-B220-3FE401EA591B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383753"/>
            <a:ext cx="4738241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Статистика и тенденции в Беларуси</a:t>
            </a:r>
            <a:endParaRPr lang="en-US" sz="2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79" y="1287512"/>
            <a:ext cx="4738241" cy="26533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88379" y="4095378"/>
            <a:ext cx="473824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Кто в группе риска: лица 40–60 лет (более 50% пострадавших); стаж работы &lt;1 года (каждый третий пострадавший); мужчины — 75,3% пострадавших и 92,2% погибших.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94162" y="393874"/>
            <a:ext cx="4784675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Заключение — ключевые выводы и рекомендации</a:t>
            </a:r>
            <a:endParaRPr lang="en-US" sz="1550" dirty="0"/>
          </a:p>
        </p:txBody>
      </p:sp>
      <p:sp>
        <p:nvSpPr>
          <p:cNvPr id="4" name="Shape 1"/>
          <p:cNvSpPr/>
          <p:nvPr/>
        </p:nvSpPr>
        <p:spPr>
          <a:xfrm>
            <a:off x="3894162" y="997223"/>
            <a:ext cx="4784675" cy="678135"/>
          </a:xfrm>
          <a:prstGeom prst="roundRect">
            <a:avLst>
              <a:gd name="adj" fmla="val 617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998565" y="1101626"/>
            <a:ext cx="2538785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Правовое и организационное основание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998565" y="1299344"/>
            <a:ext cx="457587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Система профилактики базируется на законах и нормативных актах (Закон «Об охране труда», Постановление № 74), обязательных медосмотрах и учете вредных факторов.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3894162" y="1745382"/>
            <a:ext cx="4784675" cy="678135"/>
          </a:xfrm>
          <a:prstGeom prst="roundRect">
            <a:avLst>
              <a:gd name="adj" fmla="val 617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98565" y="1849785"/>
            <a:ext cx="1489993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Практические элементы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998565" y="2047503"/>
            <a:ext cx="457587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Технические мероприятия, санитарно‑гигиенические меры и доступность СИЗ — основа профилактики профессиональных заболеваний.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894162" y="2493541"/>
            <a:ext cx="4784675" cy="678135"/>
          </a:xfrm>
          <a:prstGeom prst="roundRect">
            <a:avLst>
              <a:gd name="adj" fmla="val 617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998565" y="2597944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Проблемные зоны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98565" y="2795662"/>
            <a:ext cx="457587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Высокий уровень травматизма среди новичков, случаи работы в состоянии опьянения, недостаточное применение СИЗ — приоритетные направления для улучшения.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894162" y="3241700"/>
            <a:ext cx="4784675" cy="813941"/>
          </a:xfrm>
          <a:prstGeom prst="roundRect">
            <a:avLst>
              <a:gd name="adj" fmla="val 5144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98565" y="3346103"/>
            <a:ext cx="124598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Главный вывод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998565" y="3543821"/>
            <a:ext cx="4575870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Профилактика профессиональных заболеваний — объединённая обязанность работодателя и личная ответственность работника. Комплексный подход снижает риск и сохраняет здоровье.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894162" y="4134445"/>
            <a:ext cx="4784675" cy="615107"/>
          </a:xfrm>
          <a:prstGeom prst="roundRect">
            <a:avLst>
              <a:gd name="adj" fmla="val 6806"/>
            </a:avLst>
          </a:prstGeom>
          <a:solidFill>
            <a:srgbClr val="F3E4BF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803" y="4271739"/>
            <a:ext cx="124569" cy="99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18012" y="4229323"/>
            <a:ext cx="4361185" cy="407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Рекомендация для студентов: подробно изучить нормативную базу, алгоритмы медосмотров и практики организации охраны труда в организациях Республики Беларусь.</a:t>
            </a:r>
            <a:endParaRPr lang="en-US" sz="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F13FDB0-C3B4-DDEC-7643-2A5DAFA4CB2C}"/>
              </a:ext>
            </a:extLst>
          </p:cNvPr>
          <p:cNvSpPr/>
          <p:nvPr/>
        </p:nvSpPr>
        <p:spPr>
          <a:xfrm>
            <a:off x="8031892" y="4865032"/>
            <a:ext cx="1034437" cy="226814"/>
          </a:xfrm>
          <a:prstGeom prst="rect">
            <a:avLst/>
          </a:prstGeom>
          <a:solidFill>
            <a:srgbClr val="FFFDFA"/>
          </a:solidFill>
          <a:ln>
            <a:solidFill>
              <a:srgbClr val="FFFD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FDF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846</Words>
  <Application>Microsoft Office PowerPoint</Application>
  <PresentationFormat>Экран (16:9)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Libre Baskerville</vt:lpstr>
      <vt:lpstr>DM Sans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Margo</dc:creator>
  <cp:lastModifiedBy>Маргарита Рублевская</cp:lastModifiedBy>
  <cp:revision>2</cp:revision>
  <dcterms:created xsi:type="dcterms:W3CDTF">2026-05-21T07:04:42Z</dcterms:created>
  <dcterms:modified xsi:type="dcterms:W3CDTF">2026-05-21T07:06:35Z</dcterms:modified>
</cp:coreProperties>
</file>