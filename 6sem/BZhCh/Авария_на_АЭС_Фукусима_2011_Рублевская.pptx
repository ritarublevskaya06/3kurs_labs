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67" r:id="rId6"/>
    <p:sldId id="268" r:id="rId7"/>
    <p:sldId id="271" r:id="rId8"/>
    <p:sldId id="272" r:id="rId9"/>
    <p:sldId id="273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/>
  <p:notesSz cx="8229600" cy="14630400"/>
  <p:embeddedFontLst>
    <p:embeddedFont>
      <p:font typeface="Roboto" panose="02000000000000000000" pitchFamily="2" charset="0"/>
      <p:regular r:id="rId19"/>
      <p:bold r:id="rId20"/>
    </p:embeddedFont>
    <p:embeddedFont>
      <p:font typeface="Roboto Mono Medium" panose="00000009000000000000" pitchFamily="49" charset="0"/>
      <p:regular r:id="rId21"/>
      <p: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78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23411"/>
            <a:ext cx="7890205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Авария на АЭС «Фукусима-1» (2011)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842861"/>
            <a:ext cx="7556421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Влияние цунами и последствия для человеческой безопасности. Дисциплина: Безопасность жизнедеятельности человека.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507099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Рублевская Маргарита Владимировна, группа 9</a:t>
            </a:r>
            <a:endParaRPr lang="en-US" sz="15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176FFC-2F95-A239-11C3-E5CB1FD56009}"/>
              </a:ext>
            </a:extLst>
          </p:cNvPr>
          <p:cNvSpPr/>
          <p:nvPr/>
        </p:nvSpPr>
        <p:spPr>
          <a:xfrm>
            <a:off x="12758057" y="7382518"/>
            <a:ext cx="1872343" cy="84708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87" y="324683"/>
            <a:ext cx="4952643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anose="00000009000000000000" pitchFamily="49" charset="0"/>
                <a:ea typeface="Roboto Mono Medium" panose="00000009000000000000" pitchFamily="49" charset="0"/>
                <a:cs typeface="Roboto" panose="02000000000000000000" pitchFamily="2" charset="0"/>
              </a:rPr>
              <a:t>Характеристика АЭС «Фукусима-1»</a:t>
            </a:r>
            <a:endParaRPr lang="en-US" sz="3100" dirty="0">
              <a:latin typeface="Roboto Mono Medium" panose="00000009000000000000" pitchFamily="49" charset="0"/>
              <a:ea typeface="Roboto Mono Medium" panose="00000009000000000000" pitchFamily="49" charset="0"/>
              <a:cs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2787" y="881520"/>
            <a:ext cx="12005270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АЭС «Фукусима-1» была одним из ключевых объектов энергетической инфраструктуры Японии, спроектированным с учетом высокой сейсмической активности региона.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58" y="1926947"/>
            <a:ext cx="6168628" cy="57780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90962" y="1941044"/>
            <a:ext cx="6550751" cy="5778062"/>
          </a:xfrm>
          <a:prstGeom prst="roundRect">
            <a:avLst>
              <a:gd name="adj" fmla="val 476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3"/>
          <p:cNvSpPr/>
          <p:nvPr/>
        </p:nvSpPr>
        <p:spPr>
          <a:xfrm>
            <a:off x="8604647" y="2596568"/>
            <a:ext cx="3929658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b="1" kern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Расположение</a:t>
            </a:r>
            <a:endParaRPr lang="en-US" sz="2300" b="1" kern="1000" dirty="0"/>
          </a:p>
        </p:txBody>
      </p:sp>
      <p:sp>
        <p:nvSpPr>
          <p:cNvPr id="7" name="Text 4"/>
          <p:cNvSpPr/>
          <p:nvPr/>
        </p:nvSpPr>
        <p:spPr>
          <a:xfrm>
            <a:off x="8459504" y="3110639"/>
            <a:ext cx="5546782" cy="17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9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Расположена в префектуре Фукусима, на восточном побережье острова Хонсю.</a:t>
            </a:r>
            <a:endParaRPr lang="en-US" sz="19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9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Эксплуатировалась компанией TEPCO (Tokyo Electric Power Company).</a:t>
            </a:r>
            <a:endParaRPr lang="en-US" sz="19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04647" y="4718870"/>
            <a:ext cx="3929658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 Реакторов</a:t>
            </a:r>
            <a:endParaRPr lang="en-US" sz="2300" b="1" dirty="0"/>
          </a:p>
        </p:txBody>
      </p:sp>
      <p:sp>
        <p:nvSpPr>
          <p:cNvPr id="9" name="Text 6"/>
          <p:cNvSpPr/>
          <p:nvPr/>
        </p:nvSpPr>
        <p:spPr>
          <a:xfrm>
            <a:off x="8459504" y="5215702"/>
            <a:ext cx="5546782" cy="120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9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Станция состояла из 6 энергоблоков.</a:t>
            </a:r>
            <a:endParaRPr lang="en-US" sz="19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9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Использовались реакторы типа BWR (Boiling Water Reactor) — кипящие водо-водяные реакторы.</a:t>
            </a:r>
            <a:endParaRPr lang="en-US" sz="19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CD607E-C965-C787-CCC2-5123B08C9105}"/>
              </a:ext>
            </a:extLst>
          </p:cNvPr>
          <p:cNvSpPr/>
          <p:nvPr/>
        </p:nvSpPr>
        <p:spPr>
          <a:xfrm>
            <a:off x="12758057" y="7792872"/>
            <a:ext cx="1872343" cy="436727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6069"/>
            <a:ext cx="762059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Предпосылки и Масштаб Катастрофы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829038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марта 2011 года Япония столкнулась с одним из самых мощных землетрясений в своей истории, которое стало катализатором трагедии на АЭС «Фукусима-1».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846189"/>
            <a:ext cx="6422231" cy="1727478"/>
          </a:xfrm>
          <a:prstGeom prst="roundRect">
            <a:avLst>
              <a:gd name="adj" fmla="val 6352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846189"/>
            <a:ext cx="91440" cy="1727478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6" name="Text 4"/>
          <p:cNvSpPr/>
          <p:nvPr/>
        </p:nvSpPr>
        <p:spPr>
          <a:xfrm>
            <a:off x="2550676" y="30674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Дата и Время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83588" y="3558540"/>
            <a:ext cx="5911215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14:46 по местному времени произошел Великое восточно-японское землетрясение.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414379" y="2846189"/>
            <a:ext cx="6422231" cy="1727478"/>
          </a:xfrm>
          <a:prstGeom prst="roundRect">
            <a:avLst>
              <a:gd name="adj" fmla="val 6352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1519" y="2846189"/>
            <a:ext cx="91440" cy="1727478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0" name="Text 8"/>
          <p:cNvSpPr/>
          <p:nvPr/>
        </p:nvSpPr>
        <p:spPr>
          <a:xfrm>
            <a:off x="8338542" y="3067407"/>
            <a:ext cx="464236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Причина: Мегаземлетрясение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04177" y="3558540"/>
            <a:ext cx="5911215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Землетрясение магнитудой 9,0 баллов вызвало автоматическое отключение реакторов.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93790" y="4772025"/>
            <a:ext cx="6422231" cy="2521387"/>
          </a:xfrm>
          <a:prstGeom prst="roundRect">
            <a:avLst>
              <a:gd name="adj" fmla="val 4352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4772025"/>
            <a:ext cx="91440" cy="2521387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896547" y="4993243"/>
            <a:ext cx="42852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Цунами: Смертельный Удар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83588" y="5484376"/>
            <a:ext cx="5911215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Последующее цунами высотой 15-17 метров стало решающим фактором, спровоцировавшим аварию.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414379" y="4772025"/>
            <a:ext cx="6422231" cy="2521387"/>
          </a:xfrm>
          <a:prstGeom prst="roundRect">
            <a:avLst>
              <a:gd name="adj" fmla="val 4352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1519" y="4772025"/>
            <a:ext cx="91440" cy="2521387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171265" y="49932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Уровень INES: 7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704177" y="5484376"/>
            <a:ext cx="5911215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Аварии был присвоен максимальный, 7-й уровень по Международной шкале ядерных событий, что делает ее второй такой катастрофой после Чернобыля.</a:t>
            </a:r>
            <a:endParaRPr lang="en-US" sz="19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C01E87F-EC4F-0B18-2A14-C7D418652822}"/>
              </a:ext>
            </a:extLst>
          </p:cNvPr>
          <p:cNvSpPr/>
          <p:nvPr/>
        </p:nvSpPr>
        <p:spPr>
          <a:xfrm>
            <a:off x="12758057" y="7382518"/>
            <a:ext cx="1872343" cy="84708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4914"/>
            <a:ext cx="690610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Ключевая Роль Цунами в Аварии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107883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Хотя АЭС «Фукусима-1» была спроектирована для выдерживания сильных землетрясений, разрушительное цунами превысило все расчетные параметры защиты, став главной причиной катастрофы.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25033"/>
            <a:ext cx="4347567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41171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Землетрясение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2148" y="4608314"/>
            <a:ext cx="395085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Привело к </a:t>
            </a: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автоматической остановке</a:t>
            </a: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реакторов и запуску аварийных дизель-генераторов.</a:t>
            </a:r>
            <a:endParaRPr lang="en-US" sz="1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125033"/>
            <a:ext cx="4347567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9715" y="41171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Цунами (15-17 м)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5339715" y="4608314"/>
            <a:ext cx="395085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Затопило</a:t>
            </a: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дизель-генераторы и электрощиты, расположенные в низменных местах.</a:t>
            </a:r>
            <a:endParaRPr lang="en-US" sz="1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125033"/>
            <a:ext cx="4347567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7282" y="4117181"/>
            <a:ext cx="357104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Полное Обесточивание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9687282" y="4608314"/>
            <a:ext cx="395085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 привело к </a:t>
            </a:r>
            <a:r>
              <a:rPr lang="en-US" sz="1950" b="1" spc="7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Station Blackout</a:t>
            </a:r>
            <a:r>
              <a:rPr lang="en-US" sz="1950" spc="7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(потере всего электропитания) и отказу систем охлаждения.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793790" y="6220777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систем охлаждения остаточное тепловыделение ядерного топлива неуклонно вело к его перегреву и расплавлению.</a:t>
            </a:r>
            <a:endParaRPr lang="en-US" sz="19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F5DD905-C167-E90E-B365-162F0E05C289}"/>
              </a:ext>
            </a:extLst>
          </p:cNvPr>
          <p:cNvSpPr/>
          <p:nvPr/>
        </p:nvSpPr>
        <p:spPr>
          <a:xfrm>
            <a:off x="12758057" y="7382518"/>
            <a:ext cx="1872343" cy="84708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7CC82-2A82-9786-1712-B4F04D800411}"/>
              </a:ext>
            </a:extLst>
          </p:cNvPr>
          <p:cNvSpPr txBox="1"/>
          <p:nvPr/>
        </p:nvSpPr>
        <p:spPr>
          <a:xfrm>
            <a:off x="675562" y="658715"/>
            <a:ext cx="551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1) </a:t>
            </a:r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Цунами смывает дома в городе Натори на северо-востоке Японии. 11 марта 2011 года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EA082-4691-AADA-7CAD-3542D1AD5384}"/>
              </a:ext>
            </a:extLst>
          </p:cNvPr>
          <p:cNvSpPr txBox="1"/>
          <p:nvPr/>
        </p:nvSpPr>
        <p:spPr>
          <a:xfrm>
            <a:off x="7750616" y="520215"/>
            <a:ext cx="60745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2) Высота волны, порожденной самым мощным за 140 лет землетрясением в Японии, достигала 10 метров. Это город Натори 11 марта 2011 года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056" name="Picture 8" descr="Цунами смывает дома в городе Натори на северо-востоке Японии. 11 марта 2011 года">
            <a:extLst>
              <a:ext uri="{FF2B5EF4-FFF2-40B4-BE49-F238E27FC236}">
                <a16:creationId xmlns:a16="http://schemas.microsoft.com/office/drawing/2014/main" id="{507C0D66-3848-747B-3A91-8FC40A361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27" y="1700035"/>
            <a:ext cx="6578222" cy="539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3FCA10-D167-BC36-918D-805391A11FDD}"/>
              </a:ext>
            </a:extLst>
          </p:cNvPr>
          <p:cNvSpPr/>
          <p:nvPr/>
        </p:nvSpPr>
        <p:spPr>
          <a:xfrm>
            <a:off x="12758057" y="7772400"/>
            <a:ext cx="1872343" cy="45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1343562-A4B6-8838-C939-7E901BE32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39" y="1700035"/>
            <a:ext cx="7021558" cy="539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1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7CC82-2A82-9786-1712-B4F04D800411}"/>
              </a:ext>
            </a:extLst>
          </p:cNvPr>
          <p:cNvSpPr txBox="1"/>
          <p:nvPr/>
        </p:nvSpPr>
        <p:spPr>
          <a:xfrm>
            <a:off x="675562" y="658715"/>
            <a:ext cx="5998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ru-RU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Дым над портом в городе </a:t>
            </a:r>
            <a:r>
              <a:rPr lang="ru-RU" b="0" i="0" dirty="0" err="1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Тагадзе</a:t>
            </a:r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̈ в префектуре Мияги на северо-востоке Японии через два дня после цунами, 13 марта 2011 года 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EA082-4691-AADA-7CAD-3542D1AD5384}"/>
              </a:ext>
            </a:extLst>
          </p:cNvPr>
          <p:cNvSpPr txBox="1"/>
          <p:nvPr/>
        </p:nvSpPr>
        <p:spPr>
          <a:xfrm>
            <a:off x="7696025" y="653491"/>
            <a:ext cx="6074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DCE4E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Землетрясение и цунами унесли жизни почти 16 тысяч человек, более 2500 человек пропали без вести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3FCA10-D167-BC36-918D-805391A11FDD}"/>
              </a:ext>
            </a:extLst>
          </p:cNvPr>
          <p:cNvSpPr/>
          <p:nvPr/>
        </p:nvSpPr>
        <p:spPr>
          <a:xfrm>
            <a:off x="12758057" y="7772400"/>
            <a:ext cx="1872343" cy="45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Picture 2" descr="Дым над портом в городе Тагадзё в префектуре Мияги на северо-востоке Японии через два дня после цунами, 13 марта 2011 года&amp;nbsp;">
            <a:extLst>
              <a:ext uri="{FF2B5EF4-FFF2-40B4-BE49-F238E27FC236}">
                <a16:creationId xmlns:a16="http://schemas.microsoft.com/office/drawing/2014/main" id="{A5102FED-1052-A6F7-A120-65F76451E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56" y="1700035"/>
            <a:ext cx="6837315" cy="553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5DECE1A-BEB8-0BEA-255A-862A59132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26"/>
          <a:stretch/>
        </p:blipFill>
        <p:spPr bwMode="auto">
          <a:xfrm>
            <a:off x="7438031" y="1691090"/>
            <a:ext cx="6782936" cy="553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273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7CC82-2A82-9786-1712-B4F04D800411}"/>
              </a:ext>
            </a:extLst>
          </p:cNvPr>
          <p:cNvSpPr txBox="1"/>
          <p:nvPr/>
        </p:nvSpPr>
        <p:spPr>
          <a:xfrm>
            <a:off x="573204" y="376491"/>
            <a:ext cx="5998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5) </a:t>
            </a:r>
            <a:r>
              <a:rPr lang="ru-RU" dirty="0">
                <a:solidFill>
                  <a:srgbClr val="DCE4E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</a:t>
            </a:r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ласти начали вывозить население близлежащих деревень. Проверка на радиацию детей, эвакуированных из районов, прилегающих к станции, в город Корияма 13 марта 2011 года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EA082-4691-AADA-7CAD-3542D1AD5384}"/>
              </a:ext>
            </a:extLst>
          </p:cNvPr>
          <p:cNvSpPr txBox="1"/>
          <p:nvPr/>
        </p:nvSpPr>
        <p:spPr>
          <a:xfrm>
            <a:off x="7145619" y="168995"/>
            <a:ext cx="71527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6) В течение трех суток после цунами власти пытались остановить расплавление реакторов, вызванное тем, что вода затопила систему охлаждения станции. Но 14 марта на "Фукусиме-1" произошел взрыв. Четыре фотографии, сделанные с видео взрыва, показывают хронику катастрофы 14 марта 2011 года 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3FCA10-D167-BC36-918D-805391A11FDD}"/>
              </a:ext>
            </a:extLst>
          </p:cNvPr>
          <p:cNvSpPr/>
          <p:nvPr/>
        </p:nvSpPr>
        <p:spPr>
          <a:xfrm>
            <a:off x="12758057" y="7772400"/>
            <a:ext cx="1872343" cy="45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170" name="Picture 2" descr="Понимая, что процесс разрушения залитой цунами АЭС &amp;quot;Фукусима-1&amp;quot; принимает необратимый характер, власти начали вывозить население близлежащих деревень. Проверка на радиацию детей, эвакуированных из районов, прилегающих к станции, в город Корияма 13 марта 2011 года">
            <a:extLst>
              <a:ext uri="{FF2B5EF4-FFF2-40B4-BE49-F238E27FC236}">
                <a16:creationId xmlns:a16="http://schemas.microsoft.com/office/drawing/2014/main" id="{3B1EB8A8-5957-77FB-BAA3-B20D1B30B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34" y="1923321"/>
            <a:ext cx="5998194" cy="564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В течение трех суток после цунами власти пытались остановить расплавление реакторов, вызванное тем, что вода затопила систему охлаждения станции. Но 14 марта на &amp;quot;Фукусиме-1&amp;quot; произошел взрыв. Четыре фотографии, сделанные с видео взрыва, показывают хронику катастрофы 14 марта 2011 года&amp;nbsp;">
            <a:extLst>
              <a:ext uri="{FF2B5EF4-FFF2-40B4-BE49-F238E27FC236}">
                <a16:creationId xmlns:a16="http://schemas.microsoft.com/office/drawing/2014/main" id="{F27E8336-94F5-A06E-AAB8-3D91972AD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855" y="1923321"/>
            <a:ext cx="7525503" cy="564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55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7CC82-2A82-9786-1712-B4F04D800411}"/>
              </a:ext>
            </a:extLst>
          </p:cNvPr>
          <p:cNvSpPr txBox="1"/>
          <p:nvPr/>
        </p:nvSpPr>
        <p:spPr>
          <a:xfrm>
            <a:off x="675562" y="658715"/>
            <a:ext cx="599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</a:t>
            </a:r>
            <a:r>
              <a:rPr lang="ru-RU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Снимок АЭС "Фукусима-1" после взрыва сделан со спутника 14 марта 2011 года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EA082-4691-AADA-7CAD-3542D1AD5384}"/>
              </a:ext>
            </a:extLst>
          </p:cNvPr>
          <p:cNvSpPr txBox="1"/>
          <p:nvPr/>
        </p:nvSpPr>
        <p:spPr>
          <a:xfrm>
            <a:off x="7696025" y="653491"/>
            <a:ext cx="60745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8) Поврежденные третий (слева) и четвертый реакторы. Снимок был предоставлен Токийской электрокомпанией (TEPCO) 16 марта 2011 года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3FCA10-D167-BC36-918D-805391A11FDD}"/>
              </a:ext>
            </a:extLst>
          </p:cNvPr>
          <p:cNvSpPr/>
          <p:nvPr/>
        </p:nvSpPr>
        <p:spPr>
          <a:xfrm>
            <a:off x="12758057" y="7772400"/>
            <a:ext cx="1872343" cy="45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146" name="Picture 2" descr="Снимок АЭС &amp;quot;Фукусима-1&amp;quot; после взрыва сделан со спутника 14 марта 2011 года">
            <a:extLst>
              <a:ext uri="{FF2B5EF4-FFF2-40B4-BE49-F238E27FC236}">
                <a16:creationId xmlns:a16="http://schemas.microsoft.com/office/drawing/2014/main" id="{B2B542F7-AA32-E302-F7AF-3FC189A16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68" y="1691089"/>
            <a:ext cx="6619376" cy="553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Поврежденные третий (слева) и четвертый реакторы. Снимок был предоставлен Токийской электрокомпанией&amp;nbsp;(TEPCO) 16 марта 2011 года">
            <a:extLst>
              <a:ext uri="{FF2B5EF4-FFF2-40B4-BE49-F238E27FC236}">
                <a16:creationId xmlns:a16="http://schemas.microsoft.com/office/drawing/2014/main" id="{F03F09DA-614F-2FF6-5DFF-F45742592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691089"/>
            <a:ext cx="7118763" cy="553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6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7CC82-2A82-9786-1712-B4F04D800411}"/>
              </a:ext>
            </a:extLst>
          </p:cNvPr>
          <p:cNvSpPr txBox="1"/>
          <p:nvPr/>
        </p:nvSpPr>
        <p:spPr>
          <a:xfrm>
            <a:off x="675562" y="658715"/>
            <a:ext cx="599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9) </a:t>
            </a:r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Разрушения внутри четвертого реактора на "Фукусиме-1" в марте 2011 года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EA082-4691-AADA-7CAD-3542D1AD5384}"/>
              </a:ext>
            </a:extLst>
          </p:cNvPr>
          <p:cNvSpPr txBox="1"/>
          <p:nvPr/>
        </p:nvSpPr>
        <p:spPr>
          <a:xfrm>
            <a:off x="7696025" y="653491"/>
            <a:ext cx="60745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10) Вид на атомную электростанцию "Фукусима-</a:t>
            </a:r>
            <a:r>
              <a:rPr lang="ru-RU" b="0" i="0" dirty="0" err="1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Дайичи</a:t>
            </a:r>
            <a:r>
              <a:rPr lang="ru-RU" b="0" i="0" dirty="0">
                <a:solidFill>
                  <a:srgbClr val="DCE4E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 с воздуха. Фотография сделана 24 марта 2011 года 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3FCA10-D167-BC36-918D-805391A11FDD}"/>
              </a:ext>
            </a:extLst>
          </p:cNvPr>
          <p:cNvSpPr/>
          <p:nvPr/>
        </p:nvSpPr>
        <p:spPr>
          <a:xfrm>
            <a:off x="12758057" y="7772400"/>
            <a:ext cx="1872343" cy="45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194" name="Picture 2" descr="Разрушения внутри четвертого реактора на &amp;quot;Фукусиме-1&amp;quot; в марте 2011 года">
            <a:extLst>
              <a:ext uri="{FF2B5EF4-FFF2-40B4-BE49-F238E27FC236}">
                <a16:creationId xmlns:a16="http://schemas.microsoft.com/office/drawing/2014/main" id="{51649834-A4B9-EACF-25A6-8D2E2B6F8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01" y="1691090"/>
            <a:ext cx="6951835" cy="553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Вид на атомную электростанцию &amp;quot;Фукусима-Дайичи&amp;quot;&amp;nbsp;с воздуха. Фотография сделана 24 марта 2011 года&amp;nbsp;">
            <a:extLst>
              <a:ext uri="{FF2B5EF4-FFF2-40B4-BE49-F238E27FC236}">
                <a16:creationId xmlns:a16="http://schemas.microsoft.com/office/drawing/2014/main" id="{97CA1BF5-944C-C96F-3D2F-84562DF3B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1691089"/>
            <a:ext cx="7096836" cy="553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471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1429" y="222953"/>
            <a:ext cx="565916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Roboto Mono Medium" panose="00000009000000000000" pitchFamily="49" charset="0"/>
                <a:ea typeface="Roboto Mono Medium" panose="00000009000000000000" pitchFamily="49" charset="0"/>
                <a:cs typeface="Roboto" panose="02000000000000000000" pitchFamily="2" charset="0"/>
              </a:rPr>
              <a:t>Развитие Аварии на Энергоблоках</a:t>
            </a:r>
            <a:endParaRPr lang="en-US" sz="3100" b="1" dirty="0">
              <a:latin typeface="Roboto Mono Medium" panose="00000009000000000000" pitchFamily="49" charset="0"/>
              <a:ea typeface="Roboto Mono Medium" panose="00000009000000000000" pitchFamily="49" charset="0"/>
              <a:cs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71429" y="850672"/>
            <a:ext cx="11998643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 потери электропитания и отказа систем охлаждения ситуация на реакторах стремительно ухудшалась, приводя к серии катастрофических событий.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28" y="1635434"/>
            <a:ext cx="13296900" cy="5081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26361" y="1627130"/>
            <a:ext cx="2099753" cy="32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Перегрев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526362" y="2183044"/>
            <a:ext cx="2099753" cy="68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Рост температуры при потере охлаждения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927685" y="5564386"/>
            <a:ext cx="2111290" cy="64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Плавление топлива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927685" y="6297245"/>
            <a:ext cx="2111290" cy="68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Повреждение активной зоны и расплав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270749" y="1427313"/>
            <a:ext cx="2099753" cy="64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Накопление водорода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270750" y="2183043"/>
            <a:ext cx="2099753" cy="68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Выделение водорода при коррозии циркония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370503" y="5587173"/>
            <a:ext cx="2099753" cy="32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Взрывы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9431828" y="6163320"/>
            <a:ext cx="2099753" cy="68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Воспламенение водорода и разрушения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023583" y="7210051"/>
            <a:ext cx="13296900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Накопление водорода, образовавшегося при взаимодействии пара с циркониевой оболочкой твэлов, привело к взрывам, которые разрушили внешние здания реакторов и выпустили радиоактивные вещества в атмосферу.</a:t>
            </a:r>
            <a:endParaRPr lang="en-US" sz="19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11C893B-84A5-CFA7-B2BE-6EDFB31FE6EF}"/>
              </a:ext>
            </a:extLst>
          </p:cNvPr>
          <p:cNvSpPr/>
          <p:nvPr/>
        </p:nvSpPr>
        <p:spPr>
          <a:xfrm>
            <a:off x="12758057" y="7789902"/>
            <a:ext cx="1872343" cy="439697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575310"/>
            <a:ext cx="7885509" cy="48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Масштаб Радиоактивного Загрязнения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3073" y="1434822"/>
            <a:ext cx="13084254" cy="76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Авария привела к значительным выбросам радиоактивных веществ, что потребовало немедленной эвакуации населения и создало долгосрочные экологические проблемы.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74052" y="2527336"/>
            <a:ext cx="2899172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Выбросы Изотопов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74052" y="3508831"/>
            <a:ext cx="6424493" cy="114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атмосферу и океан были выброшены опасные радиоактивные изотопы: Йод-131, Цезий-137 и Стронций-90.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432834" y="2527336"/>
            <a:ext cx="2899172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Зона Отчуждения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7431855" y="3520861"/>
            <a:ext cx="6424493" cy="76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Вокруг станции была установлена зона отчуждения радиусом 20 км, покинутая людьми.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73073" y="5339958"/>
            <a:ext cx="313039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Массовая Эвакуация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773073" y="6510218"/>
            <a:ext cx="6424493" cy="76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Более 150 000 человек были эвакуированы из своих домов, многие из них так и не смогли вернуться.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315200" y="5339957"/>
            <a:ext cx="313039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Загрязнение Океана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7432834" y="6510218"/>
            <a:ext cx="6424493" cy="114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Произошли масштабные утечки радиоактивной воды в Тихий океан, вызывая обеспокоенность на международном уровне.</a:t>
            </a:r>
            <a:endParaRPr lang="en-US" sz="19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E4F46E7-BF9B-888C-7B2B-D4EC22B2F443}"/>
              </a:ext>
            </a:extLst>
          </p:cNvPr>
          <p:cNvSpPr/>
          <p:nvPr/>
        </p:nvSpPr>
        <p:spPr>
          <a:xfrm>
            <a:off x="12758057" y="7382518"/>
            <a:ext cx="1872343" cy="84708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72E1354F-D33D-21FB-B57B-96C9E12BA410}"/>
              </a:ext>
            </a:extLst>
          </p:cNvPr>
          <p:cNvSpPr/>
          <p:nvPr/>
        </p:nvSpPr>
        <p:spPr>
          <a:xfrm rot="5400000">
            <a:off x="3817692" y="-13761"/>
            <a:ext cx="248176" cy="6337413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7EE19C3B-E08F-BB3D-6CF6-CDC98D5D863B}"/>
              </a:ext>
            </a:extLst>
          </p:cNvPr>
          <p:cNvSpPr/>
          <p:nvPr/>
        </p:nvSpPr>
        <p:spPr>
          <a:xfrm rot="5400000">
            <a:off x="10439136" y="-45620"/>
            <a:ext cx="248176" cy="6337413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95395BCC-25B6-D473-A0EE-F8058D9108AD}"/>
              </a:ext>
            </a:extLst>
          </p:cNvPr>
          <p:cNvSpPr/>
          <p:nvPr/>
        </p:nvSpPr>
        <p:spPr>
          <a:xfrm rot="5400000">
            <a:off x="3817691" y="2909691"/>
            <a:ext cx="248176" cy="6337413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0CE307A8-8C39-DB98-B7C4-DD1BCF4B1E23}"/>
              </a:ext>
            </a:extLst>
          </p:cNvPr>
          <p:cNvSpPr/>
          <p:nvPr/>
        </p:nvSpPr>
        <p:spPr>
          <a:xfrm rot="5400000">
            <a:off x="10439138" y="2916094"/>
            <a:ext cx="248176" cy="6337413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3545"/>
            <a:ext cx="90493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Социальные и Экономические Последствия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636514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Авария на «Фукусиме» имела далеко идущие последствия, затронувшие не только окружающую среду, но и жизни людей, а также экономику страны.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653665"/>
            <a:ext cx="3111937" cy="4832271"/>
          </a:xfrm>
          <a:prstGeom prst="roundRect">
            <a:avLst>
              <a:gd name="adj" fmla="val 957"/>
            </a:avLst>
          </a:prstGeom>
          <a:solidFill>
            <a:srgbClr val="404040"/>
          </a:solidFill>
          <a:ln/>
        </p:spPr>
      </p:sp>
      <p:sp>
        <p:nvSpPr>
          <p:cNvPr id="5" name="Shape 3"/>
          <p:cNvSpPr/>
          <p:nvPr/>
        </p:nvSpPr>
        <p:spPr>
          <a:xfrm>
            <a:off x="992148" y="285202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3015615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3645694"/>
            <a:ext cx="271522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Социальные Травмы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92148" y="4508897"/>
            <a:ext cx="2715220" cy="27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Разрушение общин, потеря жилья и психологический стресс стали причиной тысяч «смертей, связанных с катастрофой».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4104084" y="2653665"/>
            <a:ext cx="3111937" cy="4832271"/>
          </a:xfrm>
          <a:prstGeom prst="roundRect">
            <a:avLst>
              <a:gd name="adj" fmla="val 957"/>
            </a:avLst>
          </a:prstGeom>
          <a:solidFill>
            <a:srgbClr val="404040"/>
          </a:solidFill>
          <a:ln/>
        </p:spPr>
      </p:sp>
      <p:sp>
        <p:nvSpPr>
          <p:cNvPr id="10" name="Shape 7"/>
          <p:cNvSpPr/>
          <p:nvPr/>
        </p:nvSpPr>
        <p:spPr>
          <a:xfrm>
            <a:off x="4302443" y="285202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6153" y="3015615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02443" y="3645694"/>
            <a:ext cx="271522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Огромные Затраты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4302443" y="4508897"/>
            <a:ext cx="2715220" cy="27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Ликвидация последствий обошлась в сотни миллиардов долларов, превысив первоначальные оценки.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7414379" y="2653665"/>
            <a:ext cx="3111937" cy="4832271"/>
          </a:xfrm>
          <a:prstGeom prst="roundRect">
            <a:avLst>
              <a:gd name="adj" fmla="val 957"/>
            </a:avLst>
          </a:prstGeom>
          <a:solidFill>
            <a:srgbClr val="404040"/>
          </a:solidFill>
          <a:ln/>
        </p:spPr>
      </p:sp>
      <p:sp>
        <p:nvSpPr>
          <p:cNvPr id="15" name="Shape 11"/>
          <p:cNvSpPr/>
          <p:nvPr/>
        </p:nvSpPr>
        <p:spPr>
          <a:xfrm>
            <a:off x="7612737" y="285202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6448" y="3015615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12737" y="3645694"/>
            <a:ext cx="271522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Закрытие АЭС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7612737" y="4136827"/>
            <a:ext cx="2715220" cy="27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Авария привела к временному или полному закрытию других АЭС в Японии и пересмотру энергетической стратегии.</a:t>
            </a:r>
            <a:endParaRPr lang="en-US" sz="1950" dirty="0"/>
          </a:p>
        </p:txBody>
      </p:sp>
      <p:sp>
        <p:nvSpPr>
          <p:cNvPr id="19" name="Shape 14"/>
          <p:cNvSpPr/>
          <p:nvPr/>
        </p:nvSpPr>
        <p:spPr>
          <a:xfrm>
            <a:off x="10724674" y="2653665"/>
            <a:ext cx="3111937" cy="4832271"/>
          </a:xfrm>
          <a:prstGeom prst="roundRect">
            <a:avLst>
              <a:gd name="adj" fmla="val 957"/>
            </a:avLst>
          </a:prstGeom>
          <a:solidFill>
            <a:srgbClr val="40404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923032" y="285202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6743" y="3015615"/>
            <a:ext cx="267891" cy="2678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23032" y="3645694"/>
            <a:ext cx="271522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Рост Импорта Топлива</a:t>
            </a:r>
            <a:endParaRPr lang="en-US" sz="2300" dirty="0"/>
          </a:p>
        </p:txBody>
      </p:sp>
      <p:sp>
        <p:nvSpPr>
          <p:cNvPr id="23" name="Text 17"/>
          <p:cNvSpPr/>
          <p:nvPr/>
        </p:nvSpPr>
        <p:spPr>
          <a:xfrm>
            <a:off x="10923032" y="4508897"/>
            <a:ext cx="2715220" cy="27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компенсации нехватки электроэнергии Японии пришлось значительно увеличить импорт ископаемого топлива.</a:t>
            </a:r>
            <a:endParaRPr lang="en-US" sz="19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251E808-8E67-0738-D986-FAA8F3D96D22}"/>
              </a:ext>
            </a:extLst>
          </p:cNvPr>
          <p:cNvSpPr/>
          <p:nvPr/>
        </p:nvSpPr>
        <p:spPr>
          <a:xfrm>
            <a:off x="12758057" y="7485936"/>
            <a:ext cx="1872343" cy="743664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0225"/>
            <a:ext cx="785872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Сравнение с Чернобыльской Аварией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743194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Хотя обе аварии получили 7-й уровень по шкале INES, их причины, характер развития и непосредственные последствия значительно различаются.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50915" y="2760345"/>
            <a:ext cx="6565106" cy="4619030"/>
          </a:xfrm>
          <a:prstGeom prst="roundRect">
            <a:avLst>
              <a:gd name="adj" fmla="val 645"/>
            </a:avLst>
          </a:prstGeom>
          <a:solidFill>
            <a:srgbClr val="DCFF50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29587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Фукусима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9273" y="3529132"/>
            <a:ext cx="6168390" cy="3780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Причина:</a:t>
            </a:r>
            <a:r>
              <a:rPr lang="en-US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Природная катастрофа (землетрясение и цунами).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Характер:</a:t>
            </a:r>
            <a:r>
              <a:rPr lang="en-US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Длительное расплавление топлива из-за отказа систем охлаждения.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Жертвы:</a:t>
            </a:r>
            <a:r>
              <a:rPr lang="en-US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Нет прямых смертей от острой лучевой болезни среди населения.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Последствия:</a:t>
            </a:r>
            <a:r>
              <a:rPr lang="en-US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Широкомасштабное загрязнение, длительная эвакуация, но относительно низкие дозы облучения для большинства.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64874" y="29587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Чернобыль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64874" y="3529132"/>
            <a:ext cx="6565106" cy="3780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Причина: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Человеческая ошибка и недостатки конструкции реактора.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Характер: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Мгновенный тепловой взрыв и пожар графита.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Жертвы: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Десятки погибших от острой лучевой болезни, тысячи отсроченных смертей.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Последствия: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Огромные выбросы, образование «зоны отчуждения», долгосрочные медицинские проблемы.</a:t>
            </a:r>
            <a:endParaRPr lang="en-US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FD07FA-E4F8-0613-F17A-55A4F7C99453}"/>
              </a:ext>
            </a:extLst>
          </p:cNvPr>
          <p:cNvSpPr/>
          <p:nvPr/>
        </p:nvSpPr>
        <p:spPr>
          <a:xfrm>
            <a:off x="12758057" y="7382518"/>
            <a:ext cx="1872343" cy="84708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2372"/>
            <a:ext cx="90493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Уроки для Мировой Ядерной Безопасности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775341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Авария на «Фукусиме» стала поворотным моментом, заставившим весь мир пересмотреть подходы к безопасности ядерной энергетики.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70930" y="2769632"/>
            <a:ext cx="45720" cy="212467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5" name="Text 3"/>
          <p:cNvSpPr/>
          <p:nvPr/>
        </p:nvSpPr>
        <p:spPr>
          <a:xfrm>
            <a:off x="1037868" y="279249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Пересмотр Рисков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37868" y="3283625"/>
            <a:ext cx="6153269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Необходимость учета </a:t>
            </a: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максимальных расчетных рисков</a:t>
            </a: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защиты от «запредельных» природных воздействий, ранее считавшихся невозможными.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16284" y="2769632"/>
            <a:ext cx="45720" cy="212467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8" name="Text 6"/>
          <p:cNvSpPr/>
          <p:nvPr/>
        </p:nvSpPr>
        <p:spPr>
          <a:xfrm>
            <a:off x="7683222" y="2792492"/>
            <a:ext cx="446389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Защита Аварийного Питания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83222" y="3283625"/>
            <a:ext cx="6153388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Размещение резервных дизель-генераторов и другого критически важного оборудования на </a:t>
            </a: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возвышенностях</a:t>
            </a: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или в водонепроницаемых помещениях.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70930" y="5245418"/>
            <a:ext cx="45720" cy="212467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1" name="Text 9"/>
          <p:cNvSpPr/>
          <p:nvPr/>
        </p:nvSpPr>
        <p:spPr>
          <a:xfrm>
            <a:off x="1037868" y="5268278"/>
            <a:ext cx="303537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Мобильные Системы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7868" y="5759410"/>
            <a:ext cx="6153269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Обеспечение наличия </a:t>
            </a: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мобильных средств охлаждения</a:t>
            </a: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источников электропитания, которые могут быть доставлены на станцию даже при разрушении инфраструктуры.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6284" y="5245418"/>
            <a:ext cx="45720" cy="212467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683222" y="5268278"/>
            <a:ext cx="49995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Международное Сотрудничество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683222" y="5759410"/>
            <a:ext cx="6153388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Усиление роли МАГАТЭ в международном контроле, аудите и координации мер по повышению безопасности АЭС.</a:t>
            </a:r>
            <a:endParaRPr lang="en-US" sz="19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C26C5C4-B92D-10BE-8425-5252FBAB026C}"/>
              </a:ext>
            </a:extLst>
          </p:cNvPr>
          <p:cNvSpPr/>
          <p:nvPr/>
        </p:nvSpPr>
        <p:spPr>
          <a:xfrm>
            <a:off x="12758057" y="7382518"/>
            <a:ext cx="1872343" cy="84708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348621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Заключение: Главный Урок Фукусимы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80190" y="2638544"/>
            <a:ext cx="7556421" cy="198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Ликвидация последствий аварии на АЭС «Фукусима-1» — это долгосрочный процесс, который, по оценкам, займет 30-40 лет. Эта катастрофа стала жестоким напоминанием о том, что даже самые передовые технологии уязвимы перед лицом мощной стихии.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577846" y="5069800"/>
            <a:ext cx="7258764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Главный урок:</a:t>
            </a: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Комплексный подход к безопасности, готовность к худшему сценарию и приоритет защиты человека над экономией — основа устойчивого развития техносферы.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6280190" y="4846558"/>
            <a:ext cx="22860" cy="2034302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DF229E7-EE11-BE8D-161E-463850393BA4}"/>
              </a:ext>
            </a:extLst>
          </p:cNvPr>
          <p:cNvSpPr/>
          <p:nvPr/>
        </p:nvSpPr>
        <p:spPr>
          <a:xfrm>
            <a:off x="12758057" y="7382518"/>
            <a:ext cx="1872343" cy="84708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DE9A167-763B-A167-AB63-2B675593B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41242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7804" y="3804761"/>
            <a:ext cx="59546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Спасибо за внимание!</a:t>
            </a:r>
            <a:endParaRPr lang="en-US" sz="39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677796-A738-B1AE-5F91-837DEBBCAABE}"/>
              </a:ext>
            </a:extLst>
          </p:cNvPr>
          <p:cNvSpPr/>
          <p:nvPr/>
        </p:nvSpPr>
        <p:spPr>
          <a:xfrm>
            <a:off x="12758057" y="7382518"/>
            <a:ext cx="1872343" cy="84708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1088</Words>
  <Application>Microsoft Office PowerPoint</Application>
  <PresentationFormat>Произвольный</PresentationFormat>
  <Paragraphs>108</Paragraphs>
  <Slides>16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Roboto Mono Medium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Margo</dc:creator>
  <cp:lastModifiedBy>Маргарита Рублевская</cp:lastModifiedBy>
  <cp:revision>4</cp:revision>
  <dcterms:created xsi:type="dcterms:W3CDTF">2026-02-24T08:44:51Z</dcterms:created>
  <dcterms:modified xsi:type="dcterms:W3CDTF">2026-02-28T08:39:07Z</dcterms:modified>
</cp:coreProperties>
</file>